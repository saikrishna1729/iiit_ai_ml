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jpxQscHMg8eo1s12U/i5L/sBk+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e3fd1cd8bb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e3fd1cd8bb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ed575fd8a5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g2ed575fd8a5_0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4"/>
          <p:cNvSpPr txBox="1"/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" type="subTitle"/>
          </p:nvPr>
        </p:nvSpPr>
        <p:spPr>
          <a:xfrm>
            <a:off x="2961564" y="3777016"/>
            <a:ext cx="6373505" cy="95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" name="Google Shape;17;p24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8" name="Google Shape;18;p24"/>
          <p:cNvCxnSpPr/>
          <p:nvPr/>
        </p:nvCxnSpPr>
        <p:spPr>
          <a:xfrm>
            <a:off x="9279031" y="4235851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24"/>
          <p:cNvCxnSpPr/>
          <p:nvPr/>
        </p:nvCxnSpPr>
        <p:spPr>
          <a:xfrm>
            <a:off x="2035431" y="4211003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" name="Google Shape;20;p24"/>
          <p:cNvGrpSpPr/>
          <p:nvPr/>
        </p:nvGrpSpPr>
        <p:grpSpPr>
          <a:xfrm>
            <a:off x="518603" y="1362700"/>
            <a:ext cx="10986448" cy="494518"/>
            <a:chOff x="1346429" y="1011300"/>
            <a:chExt cx="6452100" cy="152400"/>
          </a:xfrm>
        </p:grpSpPr>
        <p:cxnSp>
          <p:nvCxnSpPr>
            <p:cNvPr id="21" name="Google Shape;21;p2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" name="Google Shape;22;p2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" name="Google Shape;23;p24"/>
          <p:cNvGrpSpPr/>
          <p:nvPr/>
        </p:nvGrpSpPr>
        <p:grpSpPr>
          <a:xfrm>
            <a:off x="518616" y="5292133"/>
            <a:ext cx="10986448" cy="494518"/>
            <a:chOff x="1346435" y="3969088"/>
            <a:chExt cx="6452100" cy="152400"/>
          </a:xfrm>
        </p:grpSpPr>
        <p:cxnSp>
          <p:nvCxnSpPr>
            <p:cNvPr id="24" name="Google Shape;24;p2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2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11582400" y="6492875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1_Thank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26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4" name="Google Shape;34;p26"/>
          <p:cNvSpPr txBox="1"/>
          <p:nvPr>
            <p:ph idx="1" type="body"/>
          </p:nvPr>
        </p:nvSpPr>
        <p:spPr>
          <a:xfrm>
            <a:off x="2416175" y="2511425"/>
            <a:ext cx="7342188" cy="87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40"/>
              <a:buNone/>
              <a:defRPr b="1" sz="4400">
                <a:solidFill>
                  <a:schemeClr val="accent1"/>
                </a:solidFill>
              </a:defRPr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30"/>
              <a:buChar char="o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2" type="body"/>
          </p:nvPr>
        </p:nvSpPr>
        <p:spPr>
          <a:xfrm>
            <a:off x="2455863" y="3398838"/>
            <a:ext cx="730228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20"/>
              <a:buNone/>
              <a:defRPr b="1"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30"/>
              <a:buChar char="o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>
            <p:ph type="ctrTitle"/>
          </p:nvPr>
        </p:nvSpPr>
        <p:spPr>
          <a:xfrm>
            <a:off x="914400" y="2947916"/>
            <a:ext cx="10363200" cy="121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" type="subTitle"/>
          </p:nvPr>
        </p:nvSpPr>
        <p:spPr>
          <a:xfrm>
            <a:off x="2961564" y="4336584"/>
            <a:ext cx="6373505" cy="95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0" name="Google Shape;40;p27"/>
          <p:cNvCxnSpPr/>
          <p:nvPr/>
        </p:nvCxnSpPr>
        <p:spPr>
          <a:xfrm>
            <a:off x="9279031" y="4795419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27"/>
          <p:cNvCxnSpPr/>
          <p:nvPr/>
        </p:nvCxnSpPr>
        <p:spPr>
          <a:xfrm>
            <a:off x="2035431" y="4770571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" name="Google Shape;42;p27"/>
          <p:cNvGrpSpPr/>
          <p:nvPr/>
        </p:nvGrpSpPr>
        <p:grpSpPr>
          <a:xfrm>
            <a:off x="518616" y="5292133"/>
            <a:ext cx="10986448" cy="494518"/>
            <a:chOff x="1346435" y="3969088"/>
            <a:chExt cx="6452100" cy="152400"/>
          </a:xfrm>
        </p:grpSpPr>
        <p:cxnSp>
          <p:nvCxnSpPr>
            <p:cNvPr id="43" name="Google Shape;43;p27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" name="Google Shape;44;p27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" type="body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11600596" y="6492875"/>
            <a:ext cx="5914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9" name="Google Shape;4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type="title"/>
          </p:nvPr>
        </p:nvSpPr>
        <p:spPr>
          <a:xfrm>
            <a:off x="609600" y="191069"/>
            <a:ext cx="9517039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" type="body"/>
          </p:nvPr>
        </p:nvSpPr>
        <p:spPr>
          <a:xfrm>
            <a:off x="609600" y="1160060"/>
            <a:ext cx="5410200" cy="5322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3" name="Google Shape;53;p29"/>
          <p:cNvSpPr txBox="1"/>
          <p:nvPr>
            <p:ph idx="2" type="body"/>
          </p:nvPr>
        </p:nvSpPr>
        <p:spPr>
          <a:xfrm>
            <a:off x="6335973" y="1173707"/>
            <a:ext cx="5410200" cy="5281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4" name="Google Shape;54;p29"/>
          <p:cNvSpPr txBox="1"/>
          <p:nvPr>
            <p:ph idx="12" type="sldNum"/>
          </p:nvPr>
        </p:nvSpPr>
        <p:spPr>
          <a:xfrm>
            <a:off x="11491414" y="6492875"/>
            <a:ext cx="700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5" name="Google Shape;5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0"/>
          <p:cNvSpPr txBox="1"/>
          <p:nvPr>
            <p:ph type="title"/>
          </p:nvPr>
        </p:nvSpPr>
        <p:spPr>
          <a:xfrm>
            <a:off x="609600" y="191069"/>
            <a:ext cx="9598925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" type="body"/>
          </p:nvPr>
        </p:nvSpPr>
        <p:spPr>
          <a:xfrm>
            <a:off x="609599" y="1180271"/>
            <a:ext cx="53863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30"/>
          <p:cNvSpPr txBox="1"/>
          <p:nvPr>
            <p:ph idx="2" type="body"/>
          </p:nvPr>
        </p:nvSpPr>
        <p:spPr>
          <a:xfrm>
            <a:off x="609600" y="1883390"/>
            <a:ext cx="5386388" cy="4626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0" name="Google Shape;60;p30"/>
          <p:cNvSpPr txBox="1"/>
          <p:nvPr>
            <p:ph idx="3" type="body"/>
          </p:nvPr>
        </p:nvSpPr>
        <p:spPr>
          <a:xfrm>
            <a:off x="6192839" y="1166623"/>
            <a:ext cx="5389562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30"/>
          <p:cNvSpPr txBox="1"/>
          <p:nvPr>
            <p:ph idx="4" type="body"/>
          </p:nvPr>
        </p:nvSpPr>
        <p:spPr>
          <a:xfrm>
            <a:off x="6192838" y="1842448"/>
            <a:ext cx="5389562" cy="4640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30"/>
          <p:cNvSpPr txBox="1"/>
          <p:nvPr>
            <p:ph idx="12" type="sldNum"/>
          </p:nvPr>
        </p:nvSpPr>
        <p:spPr>
          <a:xfrm>
            <a:off x="11600596" y="6492875"/>
            <a:ext cx="5914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3" name="Google Shape;6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64163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1"/>
          <p:cNvSpPr txBox="1"/>
          <p:nvPr>
            <p:ph type="title"/>
          </p:nvPr>
        </p:nvSpPr>
        <p:spPr>
          <a:xfrm>
            <a:off x="609600" y="191069"/>
            <a:ext cx="9557982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2" type="sldNum"/>
          </p:nvPr>
        </p:nvSpPr>
        <p:spPr>
          <a:xfrm>
            <a:off x="11464118" y="6492875"/>
            <a:ext cx="7278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7" name="Google Shape;6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0" name="Google Shape;70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3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hank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4"/>
          <p:cNvSpPr txBox="1"/>
          <p:nvPr>
            <p:ph idx="12" type="sldNum"/>
          </p:nvPr>
        </p:nvSpPr>
        <p:spPr>
          <a:xfrm>
            <a:off x="11450472" y="6492875"/>
            <a:ext cx="741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" name="Google Shape;75;p34"/>
          <p:cNvSpPr txBox="1"/>
          <p:nvPr>
            <p:ph idx="1" type="body"/>
          </p:nvPr>
        </p:nvSpPr>
        <p:spPr>
          <a:xfrm>
            <a:off x="2416175" y="2511425"/>
            <a:ext cx="7342188" cy="87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b="1" sz="4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2" type="body"/>
          </p:nvPr>
        </p:nvSpPr>
        <p:spPr>
          <a:xfrm>
            <a:off x="2455863" y="3398838"/>
            <a:ext cx="730228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7" name="Google Shape;7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1" name="Google Shape;81;p35"/>
          <p:cNvSpPr txBox="1"/>
          <p:nvPr>
            <p:ph idx="2" type="body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2" name="Google Shape;82;p35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35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35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5" name="Google Shape;85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6"/>
          <p:cNvSpPr txBox="1"/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6"/>
          <p:cNvSpPr/>
          <p:nvPr>
            <p:ph idx="2" type="pic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36"/>
          <p:cNvSpPr txBox="1"/>
          <p:nvPr>
            <p:ph idx="1" type="body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0" name="Google Shape;90;p36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36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36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3" name="Google Shape;9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7"/>
          <p:cNvSpPr txBox="1"/>
          <p:nvPr>
            <p:ph type="title"/>
          </p:nvPr>
        </p:nvSpPr>
        <p:spPr>
          <a:xfrm>
            <a:off x="609600" y="191069"/>
            <a:ext cx="9598925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7"/>
          <p:cNvSpPr txBox="1"/>
          <p:nvPr>
            <p:ph idx="1" type="body"/>
          </p:nvPr>
        </p:nvSpPr>
        <p:spPr>
          <a:xfrm rot="5400000">
            <a:off x="3393744" y="-1624084"/>
            <a:ext cx="540451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37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37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37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00" name="Google Shape;10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>
  <p:cSld name="標題及物件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8"/>
          <p:cNvSpPr txBox="1"/>
          <p:nvPr>
            <p:ph idx="1" type="body"/>
          </p:nvPr>
        </p:nvSpPr>
        <p:spPr>
          <a:xfrm>
            <a:off x="609600" y="1105469"/>
            <a:ext cx="10972800" cy="53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810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38"/>
          <p:cNvSpPr txBox="1"/>
          <p:nvPr>
            <p:ph idx="12" type="sldNum"/>
          </p:nvPr>
        </p:nvSpPr>
        <p:spPr>
          <a:xfrm>
            <a:off x="11461709" y="6425015"/>
            <a:ext cx="730291" cy="4329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4" name="Google Shape;104;p38"/>
          <p:cNvSpPr txBox="1"/>
          <p:nvPr>
            <p:ph type="title"/>
          </p:nvPr>
        </p:nvSpPr>
        <p:spPr>
          <a:xfrm>
            <a:off x="609600" y="191069"/>
            <a:ext cx="9612573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5" name="Google Shape;105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ed575fd8a5_0_119"/>
          <p:cNvSpPr txBox="1"/>
          <p:nvPr>
            <p:ph type="title"/>
          </p:nvPr>
        </p:nvSpPr>
        <p:spPr>
          <a:xfrm>
            <a:off x="609600" y="191069"/>
            <a:ext cx="95442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2ed575fd8a5_0_119"/>
          <p:cNvSpPr txBox="1"/>
          <p:nvPr>
            <p:ph idx="1" type="body"/>
          </p:nvPr>
        </p:nvSpPr>
        <p:spPr>
          <a:xfrm>
            <a:off x="609600" y="1160060"/>
            <a:ext cx="10972800" cy="53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2ed575fd8a5_0_119"/>
          <p:cNvSpPr txBox="1"/>
          <p:nvPr>
            <p:ph idx="12" type="sldNum"/>
          </p:nvPr>
        </p:nvSpPr>
        <p:spPr>
          <a:xfrm>
            <a:off x="11582400" y="6492875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ed575fd8a5_0_106"/>
          <p:cNvSpPr txBox="1"/>
          <p:nvPr>
            <p:ph type="ctrTitle"/>
          </p:nvPr>
        </p:nvSpPr>
        <p:spPr>
          <a:xfrm>
            <a:off x="914400" y="2130425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2ed575fd8a5_0_106"/>
          <p:cNvSpPr txBox="1"/>
          <p:nvPr>
            <p:ph idx="1" type="subTitle"/>
          </p:nvPr>
        </p:nvSpPr>
        <p:spPr>
          <a:xfrm>
            <a:off x="2961564" y="3777016"/>
            <a:ext cx="63735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7" name="Google Shape;117;g2ed575fd8a5_0_106"/>
          <p:cNvSpPr txBox="1"/>
          <p:nvPr>
            <p:ph idx="12" type="sldNum"/>
          </p:nvPr>
        </p:nvSpPr>
        <p:spPr>
          <a:xfrm>
            <a:off x="11546006" y="6492875"/>
            <a:ext cx="64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18" name="Google Shape;118;g2ed575fd8a5_0_106"/>
          <p:cNvCxnSpPr/>
          <p:nvPr/>
        </p:nvCxnSpPr>
        <p:spPr>
          <a:xfrm>
            <a:off x="9279031" y="4235851"/>
            <a:ext cx="865500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g2ed575fd8a5_0_106"/>
          <p:cNvCxnSpPr/>
          <p:nvPr/>
        </p:nvCxnSpPr>
        <p:spPr>
          <a:xfrm>
            <a:off x="2035431" y="4211003"/>
            <a:ext cx="865500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0" name="Google Shape;120;g2ed575fd8a5_0_106"/>
          <p:cNvGrpSpPr/>
          <p:nvPr/>
        </p:nvGrpSpPr>
        <p:grpSpPr>
          <a:xfrm>
            <a:off x="518644" y="1362732"/>
            <a:ext cx="10986636" cy="494523"/>
            <a:chOff x="1346429" y="1011300"/>
            <a:chExt cx="6452100" cy="152400"/>
          </a:xfrm>
        </p:grpSpPr>
        <p:cxnSp>
          <p:nvCxnSpPr>
            <p:cNvPr id="121" name="Google Shape;121;g2ed575fd8a5_0_106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g2ed575fd8a5_0_106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3" name="Google Shape;123;g2ed575fd8a5_0_106"/>
          <p:cNvGrpSpPr/>
          <p:nvPr/>
        </p:nvGrpSpPr>
        <p:grpSpPr>
          <a:xfrm>
            <a:off x="518655" y="5292257"/>
            <a:ext cx="10986636" cy="494523"/>
            <a:chOff x="1346435" y="3969088"/>
            <a:chExt cx="6452100" cy="152400"/>
          </a:xfrm>
        </p:grpSpPr>
        <p:cxnSp>
          <p:nvCxnSpPr>
            <p:cNvPr id="124" name="Google Shape;124;g2ed575fd8a5_0_106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g2ed575fd8a5_0_106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ed575fd8a5_0_124"/>
          <p:cNvSpPr txBox="1"/>
          <p:nvPr>
            <p:ph type="title"/>
          </p:nvPr>
        </p:nvSpPr>
        <p:spPr>
          <a:xfrm>
            <a:off x="609600" y="191069"/>
            <a:ext cx="95169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2ed575fd8a5_0_124"/>
          <p:cNvSpPr txBox="1"/>
          <p:nvPr>
            <p:ph idx="1" type="body"/>
          </p:nvPr>
        </p:nvSpPr>
        <p:spPr>
          <a:xfrm>
            <a:off x="609600" y="1160060"/>
            <a:ext cx="5410200" cy="53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9" name="Google Shape;129;g2ed575fd8a5_0_124"/>
          <p:cNvSpPr txBox="1"/>
          <p:nvPr>
            <p:ph idx="2" type="body"/>
          </p:nvPr>
        </p:nvSpPr>
        <p:spPr>
          <a:xfrm>
            <a:off x="6335973" y="1173707"/>
            <a:ext cx="5410200" cy="52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0" name="Google Shape;130;g2ed575fd8a5_0_124"/>
          <p:cNvSpPr txBox="1"/>
          <p:nvPr>
            <p:ph idx="12" type="sldNum"/>
          </p:nvPr>
        </p:nvSpPr>
        <p:spPr>
          <a:xfrm>
            <a:off x="11491414" y="6492875"/>
            <a:ext cx="700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hank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d575fd8a5_0_130"/>
          <p:cNvSpPr txBox="1"/>
          <p:nvPr>
            <p:ph idx="12" type="sldNum"/>
          </p:nvPr>
        </p:nvSpPr>
        <p:spPr>
          <a:xfrm>
            <a:off x="11450472" y="6492875"/>
            <a:ext cx="741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3" name="Google Shape;133;g2ed575fd8a5_0_130"/>
          <p:cNvSpPr txBox="1"/>
          <p:nvPr>
            <p:ph idx="1" type="body"/>
          </p:nvPr>
        </p:nvSpPr>
        <p:spPr>
          <a:xfrm>
            <a:off x="2416175" y="2511425"/>
            <a:ext cx="73422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b="1" sz="4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g2ed575fd8a5_0_130"/>
          <p:cNvSpPr txBox="1"/>
          <p:nvPr>
            <p:ph idx="2" type="body"/>
          </p:nvPr>
        </p:nvSpPr>
        <p:spPr>
          <a:xfrm>
            <a:off x="2455863" y="3398838"/>
            <a:ext cx="7302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d575fd8a5_0_135"/>
          <p:cNvSpPr txBox="1"/>
          <p:nvPr>
            <p:ph type="ctrTitle"/>
          </p:nvPr>
        </p:nvSpPr>
        <p:spPr>
          <a:xfrm>
            <a:off x="914400" y="2947916"/>
            <a:ext cx="103632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2ed575fd8a5_0_135"/>
          <p:cNvSpPr txBox="1"/>
          <p:nvPr>
            <p:ph idx="1" type="subTitle"/>
          </p:nvPr>
        </p:nvSpPr>
        <p:spPr>
          <a:xfrm>
            <a:off x="2961564" y="4336584"/>
            <a:ext cx="63735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g2ed575fd8a5_0_135"/>
          <p:cNvSpPr txBox="1"/>
          <p:nvPr>
            <p:ph idx="12" type="sldNum"/>
          </p:nvPr>
        </p:nvSpPr>
        <p:spPr>
          <a:xfrm>
            <a:off x="11546006" y="6492875"/>
            <a:ext cx="64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39" name="Google Shape;139;g2ed575fd8a5_0_135"/>
          <p:cNvCxnSpPr/>
          <p:nvPr/>
        </p:nvCxnSpPr>
        <p:spPr>
          <a:xfrm>
            <a:off x="9279031" y="4795419"/>
            <a:ext cx="865500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g2ed575fd8a5_0_135"/>
          <p:cNvCxnSpPr/>
          <p:nvPr/>
        </p:nvCxnSpPr>
        <p:spPr>
          <a:xfrm>
            <a:off x="2035431" y="4770571"/>
            <a:ext cx="865500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1" name="Google Shape;141;g2ed575fd8a5_0_135"/>
          <p:cNvGrpSpPr/>
          <p:nvPr/>
        </p:nvGrpSpPr>
        <p:grpSpPr>
          <a:xfrm>
            <a:off x="518655" y="5292257"/>
            <a:ext cx="10986636" cy="494523"/>
            <a:chOff x="1346435" y="3969088"/>
            <a:chExt cx="6452100" cy="152400"/>
          </a:xfrm>
        </p:grpSpPr>
        <p:cxnSp>
          <p:nvCxnSpPr>
            <p:cNvPr id="142" name="Google Shape;142;g2ed575fd8a5_0_135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" name="Google Shape;143;g2ed575fd8a5_0_135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ed575fd8a5_0_144"/>
          <p:cNvSpPr txBox="1"/>
          <p:nvPr>
            <p:ph type="title"/>
          </p:nvPr>
        </p:nvSpPr>
        <p:spPr>
          <a:xfrm>
            <a:off x="963613" y="4406900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2ed575fd8a5_0_144"/>
          <p:cNvSpPr txBox="1"/>
          <p:nvPr>
            <p:ph idx="1" type="body"/>
          </p:nvPr>
        </p:nvSpPr>
        <p:spPr>
          <a:xfrm>
            <a:off x="963613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7" name="Google Shape;147;g2ed575fd8a5_0_144"/>
          <p:cNvSpPr txBox="1"/>
          <p:nvPr>
            <p:ph idx="12" type="sldNum"/>
          </p:nvPr>
        </p:nvSpPr>
        <p:spPr>
          <a:xfrm>
            <a:off x="11600596" y="6492875"/>
            <a:ext cx="591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ed575fd8a5_0_149"/>
          <p:cNvSpPr txBox="1"/>
          <p:nvPr>
            <p:ph type="title"/>
          </p:nvPr>
        </p:nvSpPr>
        <p:spPr>
          <a:xfrm>
            <a:off x="609600" y="191069"/>
            <a:ext cx="95988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2ed575fd8a5_0_149"/>
          <p:cNvSpPr txBox="1"/>
          <p:nvPr>
            <p:ph idx="1" type="body"/>
          </p:nvPr>
        </p:nvSpPr>
        <p:spPr>
          <a:xfrm>
            <a:off x="609599" y="1180271"/>
            <a:ext cx="53865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1" name="Google Shape;151;g2ed575fd8a5_0_149"/>
          <p:cNvSpPr txBox="1"/>
          <p:nvPr>
            <p:ph idx="2" type="body"/>
          </p:nvPr>
        </p:nvSpPr>
        <p:spPr>
          <a:xfrm>
            <a:off x="609600" y="1883390"/>
            <a:ext cx="5386500" cy="4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2" name="Google Shape;152;g2ed575fd8a5_0_149"/>
          <p:cNvSpPr txBox="1"/>
          <p:nvPr>
            <p:ph idx="3" type="body"/>
          </p:nvPr>
        </p:nvSpPr>
        <p:spPr>
          <a:xfrm>
            <a:off x="6192839" y="1166623"/>
            <a:ext cx="53895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3" name="Google Shape;153;g2ed575fd8a5_0_149"/>
          <p:cNvSpPr txBox="1"/>
          <p:nvPr>
            <p:ph idx="4" type="body"/>
          </p:nvPr>
        </p:nvSpPr>
        <p:spPr>
          <a:xfrm>
            <a:off x="6192838" y="1842448"/>
            <a:ext cx="5389500" cy="46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4" name="Google Shape;154;g2ed575fd8a5_0_149"/>
          <p:cNvSpPr txBox="1"/>
          <p:nvPr>
            <p:ph idx="12" type="sldNum"/>
          </p:nvPr>
        </p:nvSpPr>
        <p:spPr>
          <a:xfrm>
            <a:off x="11600596" y="6492875"/>
            <a:ext cx="591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ed575fd8a5_0_157"/>
          <p:cNvSpPr txBox="1"/>
          <p:nvPr>
            <p:ph type="title"/>
          </p:nvPr>
        </p:nvSpPr>
        <p:spPr>
          <a:xfrm>
            <a:off x="609600" y="191069"/>
            <a:ext cx="95580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2ed575fd8a5_0_157"/>
          <p:cNvSpPr txBox="1"/>
          <p:nvPr>
            <p:ph idx="12" type="sldNum"/>
          </p:nvPr>
        </p:nvSpPr>
        <p:spPr>
          <a:xfrm>
            <a:off x="11464118" y="6492875"/>
            <a:ext cx="727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ed575fd8a5_0_161"/>
          <p:cNvSpPr txBox="1"/>
          <p:nvPr>
            <p:ph idx="12" type="sldNum"/>
          </p:nvPr>
        </p:nvSpPr>
        <p:spPr>
          <a:xfrm>
            <a:off x="11546006" y="6492875"/>
            <a:ext cx="64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ed575fd8a5_0_164"/>
          <p:cNvSpPr txBox="1"/>
          <p:nvPr>
            <p:ph idx="12" type="sldNum"/>
          </p:nvPr>
        </p:nvSpPr>
        <p:spPr>
          <a:xfrm>
            <a:off x="11546006" y="6492875"/>
            <a:ext cx="64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d575fd8a5_0_166"/>
          <p:cNvSpPr txBox="1"/>
          <p:nvPr>
            <p:ph type="title"/>
          </p:nvPr>
        </p:nvSpPr>
        <p:spPr>
          <a:xfrm>
            <a:off x="609600" y="273050"/>
            <a:ext cx="40116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2ed575fd8a5_0_166"/>
          <p:cNvSpPr txBox="1"/>
          <p:nvPr>
            <p:ph idx="1" type="body"/>
          </p:nvPr>
        </p:nvSpPr>
        <p:spPr>
          <a:xfrm>
            <a:off x="4767263" y="273050"/>
            <a:ext cx="68151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65" name="Google Shape;165;g2ed575fd8a5_0_166"/>
          <p:cNvSpPr txBox="1"/>
          <p:nvPr>
            <p:ph idx="2" type="body"/>
          </p:nvPr>
        </p:nvSpPr>
        <p:spPr>
          <a:xfrm>
            <a:off x="609600" y="1435100"/>
            <a:ext cx="40116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6" name="Google Shape;166;g2ed575fd8a5_0_166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7" name="Google Shape;167;g2ed575fd8a5_0_166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g2ed575fd8a5_0_166"/>
          <p:cNvSpPr txBox="1"/>
          <p:nvPr>
            <p:ph idx="12" type="sldNum"/>
          </p:nvPr>
        </p:nvSpPr>
        <p:spPr>
          <a:xfrm>
            <a:off x="11586948" y="6492875"/>
            <a:ext cx="605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d575fd8a5_0_174"/>
          <p:cNvSpPr txBox="1"/>
          <p:nvPr>
            <p:ph type="title"/>
          </p:nvPr>
        </p:nvSpPr>
        <p:spPr>
          <a:xfrm>
            <a:off x="2389188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g2ed575fd8a5_0_174"/>
          <p:cNvSpPr/>
          <p:nvPr>
            <p:ph idx="2" type="pic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g2ed575fd8a5_0_174"/>
          <p:cNvSpPr txBox="1"/>
          <p:nvPr>
            <p:ph idx="1" type="body"/>
          </p:nvPr>
        </p:nvSpPr>
        <p:spPr>
          <a:xfrm>
            <a:off x="2389188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3" name="Google Shape;173;g2ed575fd8a5_0_174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g2ed575fd8a5_0_174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g2ed575fd8a5_0_174"/>
          <p:cNvSpPr txBox="1"/>
          <p:nvPr>
            <p:ph idx="12" type="sldNum"/>
          </p:nvPr>
        </p:nvSpPr>
        <p:spPr>
          <a:xfrm>
            <a:off x="11586948" y="6492875"/>
            <a:ext cx="605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ed575fd8a5_0_182"/>
          <p:cNvSpPr txBox="1"/>
          <p:nvPr>
            <p:ph type="title"/>
          </p:nvPr>
        </p:nvSpPr>
        <p:spPr>
          <a:xfrm>
            <a:off x="609600" y="191069"/>
            <a:ext cx="95988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g2ed575fd8a5_0_182"/>
          <p:cNvSpPr txBox="1"/>
          <p:nvPr>
            <p:ph idx="1" type="body"/>
          </p:nvPr>
        </p:nvSpPr>
        <p:spPr>
          <a:xfrm rot="5400000">
            <a:off x="3393751" y="-1624090"/>
            <a:ext cx="54045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g2ed575fd8a5_0_182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g2ed575fd8a5_0_182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g2ed575fd8a5_0_182"/>
          <p:cNvSpPr txBox="1"/>
          <p:nvPr>
            <p:ph idx="12" type="sldNum"/>
          </p:nvPr>
        </p:nvSpPr>
        <p:spPr>
          <a:xfrm>
            <a:off x="11586948" y="6492875"/>
            <a:ext cx="605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>
  <p:cSld name="標題及物件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ed575fd8a5_0_189"/>
          <p:cNvSpPr txBox="1"/>
          <p:nvPr>
            <p:ph idx="1" type="body"/>
          </p:nvPr>
        </p:nvSpPr>
        <p:spPr>
          <a:xfrm>
            <a:off x="609600" y="1105469"/>
            <a:ext cx="10972800" cy="53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810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g2ed575fd8a5_0_189"/>
          <p:cNvSpPr txBox="1"/>
          <p:nvPr>
            <p:ph idx="12" type="sldNum"/>
          </p:nvPr>
        </p:nvSpPr>
        <p:spPr>
          <a:xfrm>
            <a:off x="11461709" y="6425015"/>
            <a:ext cx="7302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5" name="Google Shape;185;g2ed575fd8a5_0_189"/>
          <p:cNvSpPr txBox="1"/>
          <p:nvPr>
            <p:ph type="title"/>
          </p:nvPr>
        </p:nvSpPr>
        <p:spPr>
          <a:xfrm>
            <a:off x="609600" y="191069"/>
            <a:ext cx="96126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609600" y="191069"/>
            <a:ext cx="9598925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609600" y="1160059"/>
            <a:ext cx="10972800" cy="5404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3" name="Google Shape;13;p23" title="New Logo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9036850" y="4"/>
            <a:ext cx="3155150" cy="7918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d575fd8a5_0_102"/>
          <p:cNvSpPr txBox="1"/>
          <p:nvPr>
            <p:ph type="title"/>
          </p:nvPr>
        </p:nvSpPr>
        <p:spPr>
          <a:xfrm>
            <a:off x="609600" y="191069"/>
            <a:ext cx="95988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g2ed575fd8a5_0_102"/>
          <p:cNvSpPr txBox="1"/>
          <p:nvPr>
            <p:ph idx="1" type="body"/>
          </p:nvPr>
        </p:nvSpPr>
        <p:spPr>
          <a:xfrm>
            <a:off x="609600" y="1160059"/>
            <a:ext cx="10972800" cy="54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g2ed575fd8a5_0_102"/>
          <p:cNvSpPr txBox="1"/>
          <p:nvPr>
            <p:ph idx="12" type="sldNum"/>
          </p:nvPr>
        </p:nvSpPr>
        <p:spPr>
          <a:xfrm>
            <a:off x="11586948" y="6492875"/>
            <a:ext cx="605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"/>
          <p:cNvSpPr txBox="1"/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Font typeface="Calibri"/>
              <a:buNone/>
            </a:pPr>
            <a:r>
              <a:rPr lang="en-IN" sz="3600">
                <a:latin typeface="Calibri"/>
                <a:ea typeface="Calibri"/>
                <a:cs typeface="Calibri"/>
                <a:sym typeface="Calibri"/>
              </a:rPr>
              <a:t>Hackathon-</a:t>
            </a:r>
            <a:r>
              <a:rPr lang="en-IN"/>
              <a:t>2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"/>
          <p:cNvSpPr txBox="1"/>
          <p:nvPr>
            <p:ph idx="1" type="subTitle"/>
          </p:nvPr>
        </p:nvSpPr>
        <p:spPr>
          <a:xfrm>
            <a:off x="2961564" y="3777016"/>
            <a:ext cx="63735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640"/>
              <a:buNone/>
            </a:pPr>
            <a:r>
              <a:rPr lang="en-IN"/>
              <a:t>Chatbot</a:t>
            </a:r>
            <a:endParaRPr/>
          </a:p>
        </p:txBody>
      </p:sp>
      <p:sp>
        <p:nvSpPr>
          <p:cNvPr id="192" name="Google Shape;192;p1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"/>
          <p:cNvSpPr txBox="1"/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CHATBOT</a:t>
            </a:r>
            <a:endParaRPr/>
          </a:p>
        </p:txBody>
      </p:sp>
      <p:sp>
        <p:nvSpPr>
          <p:cNvPr id="198" name="Google Shape;198;p2"/>
          <p:cNvSpPr txBox="1"/>
          <p:nvPr>
            <p:ph idx="1" type="subTitle"/>
          </p:nvPr>
        </p:nvSpPr>
        <p:spPr>
          <a:xfrm>
            <a:off x="2961564" y="3777016"/>
            <a:ext cx="6373505" cy="95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</a:pPr>
            <a:r>
              <a:rPr lang="en-IN"/>
              <a:t>Skill Building</a:t>
            </a:r>
            <a:endParaRPr/>
          </a:p>
        </p:txBody>
      </p:sp>
      <p:sp>
        <p:nvSpPr>
          <p:cNvPr id="199" name="Google Shape;199;p2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What is a Chatbot?</a:t>
            </a:r>
            <a:endParaRPr/>
          </a:p>
        </p:txBody>
      </p:sp>
      <p:sp>
        <p:nvSpPr>
          <p:cNvPr id="205" name="Google Shape;205;p3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A Chatbot is a conversational tool to retrieve information and generate human like conversation.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It is mainly a dialog system aimed to solve/serve a specific purpose.</a:t>
            </a:r>
            <a:endParaRPr/>
          </a:p>
        </p:txBody>
      </p:sp>
      <p:sp>
        <p:nvSpPr>
          <p:cNvPr id="206" name="Google Shape;206;p3"/>
          <p:cNvSpPr txBox="1"/>
          <p:nvPr>
            <p:ph idx="12" type="sldNum"/>
          </p:nvPr>
        </p:nvSpPr>
        <p:spPr>
          <a:xfrm>
            <a:off x="11582400" y="6492875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Benefits and Applications</a:t>
            </a:r>
            <a:endParaRPr/>
          </a:p>
        </p:txBody>
      </p:sp>
      <p:sp>
        <p:nvSpPr>
          <p:cNvPr id="212" name="Google Shape;212;p4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IN" sz="2960"/>
              <a:t>Benefits of using a Chatbot in your Business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IN" sz="2590"/>
              <a:t>Quick information retrieval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IN" sz="2590"/>
              <a:t>Vast knowledge database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IN" sz="2590"/>
              <a:t>Can be personalized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IN" sz="2590"/>
              <a:t>Saves lots of time and money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IN" sz="2590"/>
              <a:t>Can initiate the action if programmed</a:t>
            </a:r>
            <a:endParaRPr/>
          </a:p>
          <a:p>
            <a:pPr indent="-15494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60"/>
              <a:buNone/>
            </a:pPr>
            <a:r>
              <a:t/>
            </a:r>
            <a:endParaRPr sz="2960"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IN" sz="2960"/>
              <a:t>Chatbots across various Business Industries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IN" sz="2590"/>
              <a:t>Healthcare Industry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IN" sz="2590"/>
              <a:t>Educational Sector/Institution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IN" sz="2590"/>
              <a:t>Online Food Ordering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IN" sz="2590"/>
              <a:t>Customer Support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IN" sz="2590"/>
              <a:t>Banking and Finance Industry</a:t>
            </a:r>
            <a:endParaRPr sz="2590"/>
          </a:p>
        </p:txBody>
      </p:sp>
      <p:sp>
        <p:nvSpPr>
          <p:cNvPr id="213" name="Google Shape;213;p4"/>
          <p:cNvSpPr txBox="1"/>
          <p:nvPr>
            <p:ph idx="12" type="sldNum"/>
          </p:nvPr>
        </p:nvSpPr>
        <p:spPr>
          <a:xfrm>
            <a:off x="11582400" y="6492875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How do Chatbots work?</a:t>
            </a:r>
            <a:endParaRPr/>
          </a:p>
        </p:txBody>
      </p:sp>
      <p:sp>
        <p:nvSpPr>
          <p:cNvPr id="219" name="Google Shape;219;p5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IN"/>
              <a:t>Chatbots need the following to respond to an user question:</a:t>
            </a:r>
            <a:endParaRPr/>
          </a:p>
          <a:p>
            <a:pPr indent="-1397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What (skill) is the user asking for? (</a:t>
            </a:r>
            <a:r>
              <a:rPr b="1" lang="en-IN">
                <a:solidFill>
                  <a:srgbClr val="F88C30"/>
                </a:solidFill>
              </a:rPr>
              <a:t>Intent</a:t>
            </a:r>
            <a:r>
              <a:rPr lang="en-IN"/>
              <a:t>)</a:t>
            </a:r>
            <a:endParaRPr/>
          </a:p>
          <a:p>
            <a:pPr indent="-1397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Did the user mention any specific information? (</a:t>
            </a:r>
            <a:r>
              <a:rPr b="1" lang="en-IN">
                <a:solidFill>
                  <a:srgbClr val="F88C30"/>
                </a:solidFill>
              </a:rPr>
              <a:t>Slots</a:t>
            </a:r>
            <a:r>
              <a:rPr lang="en-IN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What should the bot ask to get further details from the user? (</a:t>
            </a:r>
            <a:r>
              <a:rPr b="1" lang="en-IN">
                <a:solidFill>
                  <a:srgbClr val="F88C30"/>
                </a:solidFill>
              </a:rPr>
              <a:t>Dialog flow/Maintaining Context</a:t>
            </a:r>
            <a:r>
              <a:rPr lang="en-IN"/>
              <a:t>)</a:t>
            </a:r>
            <a:endParaRPr/>
          </a:p>
          <a:p>
            <a:pPr indent="-1397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How to fulfil the user request? (</a:t>
            </a:r>
            <a:r>
              <a:rPr b="1" lang="en-IN">
                <a:solidFill>
                  <a:srgbClr val="F88C30"/>
                </a:solidFill>
              </a:rPr>
              <a:t>Action/Response/Fulfilment</a:t>
            </a:r>
            <a:r>
              <a:rPr lang="en-IN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 txBox="1"/>
          <p:nvPr>
            <p:ph idx="12" type="sldNum"/>
          </p:nvPr>
        </p:nvSpPr>
        <p:spPr>
          <a:xfrm>
            <a:off x="11582400" y="6492875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FLIGHT BOT EXAMPLE</a:t>
            </a:r>
            <a:endParaRPr/>
          </a:p>
        </p:txBody>
      </p:sp>
      <p:sp>
        <p:nvSpPr>
          <p:cNvPr id="226" name="Google Shape;226;p6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rgbClr val="C00000"/>
                </a:solidFill>
              </a:rPr>
              <a:t>User Utterance</a:t>
            </a:r>
            <a:r>
              <a:rPr lang="en-IN" sz="2800"/>
              <a:t>: “I want to book a ticket from New York to Seattle departing on September 15 and returning on September 19”.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rgbClr val="C00000"/>
                </a:solidFill>
              </a:rPr>
              <a:t>Chatbot: </a:t>
            </a:r>
            <a:r>
              <a:rPr lang="en-IN" sz="2800">
                <a:solidFill>
                  <a:schemeClr val="dk1"/>
                </a:solidFill>
              </a:rPr>
              <a:t>“</a:t>
            </a:r>
            <a:r>
              <a:rPr lang="en-IN" sz="2800"/>
              <a:t>How many people are travelling”.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rgbClr val="C00000"/>
                </a:solidFill>
              </a:rPr>
              <a:t>User Utterance: </a:t>
            </a:r>
            <a:r>
              <a:rPr lang="en-IN" sz="2800"/>
              <a:t>“Book for 2 people”.</a:t>
            </a:r>
            <a:br>
              <a:rPr lang="en-IN" sz="2800"/>
            </a:br>
            <a:r>
              <a:rPr b="1" lang="en-IN" sz="2800"/>
              <a:t>Utterance </a:t>
            </a:r>
            <a:r>
              <a:rPr lang="en-IN" sz="2800"/>
              <a:t>is the user input from which the chat bot derives intents and slots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 txBox="1"/>
          <p:nvPr>
            <p:ph idx="12" type="sldNum"/>
          </p:nvPr>
        </p:nvSpPr>
        <p:spPr>
          <a:xfrm>
            <a:off x="11582400" y="6492875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228" name="Google Shape;228;p6"/>
          <p:cNvGrpSpPr/>
          <p:nvPr/>
        </p:nvGrpSpPr>
        <p:grpSpPr>
          <a:xfrm>
            <a:off x="1930523" y="3967461"/>
            <a:ext cx="8223411" cy="2326051"/>
            <a:chOff x="3094" y="711117"/>
            <a:chExt cx="8223411" cy="2326051"/>
          </a:xfrm>
        </p:grpSpPr>
        <p:sp>
          <p:nvSpPr>
            <p:cNvPr id="229" name="Google Shape;229;p6"/>
            <p:cNvSpPr/>
            <p:nvPr/>
          </p:nvSpPr>
          <p:spPr>
            <a:xfrm>
              <a:off x="3094" y="711117"/>
              <a:ext cx="1860500" cy="432000"/>
            </a:xfrm>
            <a:prstGeom prst="rect">
              <a:avLst/>
            </a:prstGeom>
            <a:solidFill>
              <a:srgbClr val="52538A"/>
            </a:solidFill>
            <a:ln cap="flat" cmpd="sng" w="19050">
              <a:solidFill>
                <a:srgbClr val="5253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6"/>
            <p:cNvSpPr txBox="1"/>
            <p:nvPr/>
          </p:nvSpPr>
          <p:spPr>
            <a:xfrm>
              <a:off x="3094" y="711117"/>
              <a:ext cx="1860500" cy="43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Georgia"/>
                <a:buNone/>
              </a:pPr>
              <a:r>
                <a:rPr b="0" i="0" lang="en-IN" sz="1500" u="none" cap="none" strike="noStrike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Intent</a:t>
              </a:r>
              <a:endParaRPr b="0" i="0" sz="15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3094" y="1143118"/>
              <a:ext cx="1860500" cy="1894050"/>
            </a:xfrm>
            <a:prstGeom prst="rect">
              <a:avLst/>
            </a:prstGeom>
            <a:solidFill>
              <a:srgbClr val="CFCFD9">
                <a:alpha val="85098"/>
              </a:srgbClr>
            </a:solidFill>
            <a:ln cap="flat" cmpd="sng" w="19050">
              <a:solidFill>
                <a:srgbClr val="CFCFD9">
                  <a:alpha val="8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6"/>
            <p:cNvSpPr txBox="1"/>
            <p:nvPr/>
          </p:nvSpPr>
          <p:spPr>
            <a:xfrm>
              <a:off x="3094" y="1143118"/>
              <a:ext cx="1860500" cy="1894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Georgia"/>
                <a:buChar char="•"/>
              </a:pPr>
              <a:r>
                <a:rPr b="0" i="0" lang="en-IN" sz="15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Book flights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2124064" y="711117"/>
              <a:ext cx="1860500" cy="432000"/>
            </a:xfrm>
            <a:prstGeom prst="rect">
              <a:avLst/>
            </a:prstGeom>
            <a:solidFill>
              <a:srgbClr val="52538A"/>
            </a:solidFill>
            <a:ln cap="flat" cmpd="sng" w="19050">
              <a:solidFill>
                <a:srgbClr val="5253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6"/>
            <p:cNvSpPr txBox="1"/>
            <p:nvPr/>
          </p:nvSpPr>
          <p:spPr>
            <a:xfrm>
              <a:off x="2124064" y="711117"/>
              <a:ext cx="1860500" cy="43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Georgia"/>
                <a:buNone/>
              </a:pPr>
              <a:r>
                <a:rPr b="0" i="0" lang="en-IN" sz="1500" u="none" cap="none" strike="noStrike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Slots</a:t>
              </a:r>
              <a:endParaRPr b="0" i="0" sz="15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2124064" y="1143118"/>
              <a:ext cx="1860500" cy="1894050"/>
            </a:xfrm>
            <a:prstGeom prst="rect">
              <a:avLst/>
            </a:prstGeom>
            <a:solidFill>
              <a:srgbClr val="CFCFD9">
                <a:alpha val="85098"/>
              </a:srgbClr>
            </a:solidFill>
            <a:ln cap="flat" cmpd="sng" w="19050">
              <a:solidFill>
                <a:srgbClr val="CFCFD9">
                  <a:alpha val="8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2124064" y="1143118"/>
              <a:ext cx="1860500" cy="1894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Georgia"/>
                <a:buChar char="•"/>
              </a:pPr>
              <a:r>
                <a:rPr b="0" i="0" lang="en-IN" sz="15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From - </a:t>
              </a:r>
              <a:r>
                <a:rPr b="0" i="0" lang="en-IN" sz="1500" u="none" cap="none" strike="noStrike">
                  <a:solidFill>
                    <a:srgbClr val="C00000"/>
                  </a:solidFill>
                  <a:latin typeface="Georgia"/>
                  <a:ea typeface="Georgia"/>
                  <a:cs typeface="Georgia"/>
                  <a:sym typeface="Georgia"/>
                </a:rPr>
                <a:t>New York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Georgia"/>
                <a:buChar char="•"/>
              </a:pPr>
              <a:r>
                <a:rPr b="0" i="0" lang="en-IN" sz="15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To - </a:t>
              </a:r>
              <a:r>
                <a:rPr b="0" i="0" lang="en-IN" sz="1500" u="none" cap="none" strike="noStrike">
                  <a:solidFill>
                    <a:srgbClr val="C00000"/>
                  </a:solidFill>
                  <a:latin typeface="Georgia"/>
                  <a:ea typeface="Georgia"/>
                  <a:cs typeface="Georgia"/>
                  <a:sym typeface="Georgia"/>
                </a:rPr>
                <a:t>Seattle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Georgia"/>
                <a:buChar char="•"/>
              </a:pPr>
              <a:r>
                <a:rPr b="0" i="0" lang="en-IN" sz="15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Departure date - </a:t>
              </a:r>
              <a:r>
                <a:rPr b="0" i="0" lang="en-IN" sz="1500" u="none" cap="none" strike="noStrike">
                  <a:solidFill>
                    <a:srgbClr val="C00000"/>
                  </a:solidFill>
                  <a:latin typeface="Georgia"/>
                  <a:ea typeface="Georgia"/>
                  <a:cs typeface="Georgia"/>
                  <a:sym typeface="Georgia"/>
                </a:rPr>
                <a:t>September 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Georgia"/>
                <a:buChar char="•"/>
              </a:pPr>
              <a:r>
                <a:rPr b="0" i="0" lang="en-IN" sz="15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Return date - </a:t>
              </a:r>
              <a:r>
                <a:rPr b="0" i="0" lang="en-IN" sz="1500" u="none" cap="none" strike="noStrike">
                  <a:solidFill>
                    <a:srgbClr val="C00000"/>
                  </a:solidFill>
                  <a:latin typeface="Georgia"/>
                  <a:ea typeface="Georgia"/>
                  <a:cs typeface="Georgia"/>
                  <a:sym typeface="Georgia"/>
                </a:rPr>
                <a:t>September 19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Georgia"/>
                <a:buChar char="•"/>
              </a:pPr>
              <a:r>
                <a:rPr b="0" i="0" lang="en-IN" sz="15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No. of people:       </a:t>
              </a:r>
              <a:r>
                <a:rPr b="0" i="0" lang="en-IN" sz="1500" u="none" cap="none" strike="noStrike">
                  <a:solidFill>
                    <a:srgbClr val="C00000"/>
                  </a:solidFill>
                  <a:latin typeface="Georgia"/>
                  <a:ea typeface="Georgia"/>
                  <a:cs typeface="Georgia"/>
                  <a:sym typeface="Georgia"/>
                </a:rPr>
                <a:t>2 people</a:t>
              </a:r>
              <a:endParaRPr b="0" i="0" sz="1500" u="none" cap="none" strike="noStrike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4245035" y="711117"/>
              <a:ext cx="1860500" cy="432000"/>
            </a:xfrm>
            <a:prstGeom prst="rect">
              <a:avLst/>
            </a:prstGeom>
            <a:solidFill>
              <a:srgbClr val="52538A"/>
            </a:solidFill>
            <a:ln cap="flat" cmpd="sng" w="19050">
              <a:solidFill>
                <a:srgbClr val="5253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6"/>
            <p:cNvSpPr txBox="1"/>
            <p:nvPr/>
          </p:nvSpPr>
          <p:spPr>
            <a:xfrm>
              <a:off x="4245035" y="711117"/>
              <a:ext cx="1860500" cy="43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Georgia"/>
                <a:buNone/>
              </a:pPr>
              <a:r>
                <a:rPr b="0" i="0" lang="en-IN" sz="1500" u="none" cap="none" strike="noStrike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Dialog flow</a:t>
              </a:r>
              <a:endParaRPr b="0" i="0" sz="15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4245035" y="1143118"/>
              <a:ext cx="1860500" cy="1894050"/>
            </a:xfrm>
            <a:prstGeom prst="rect">
              <a:avLst/>
            </a:prstGeom>
            <a:solidFill>
              <a:srgbClr val="CFCFD9">
                <a:alpha val="85098"/>
              </a:srgbClr>
            </a:solidFill>
            <a:ln cap="flat" cmpd="sng" w="19050">
              <a:solidFill>
                <a:srgbClr val="CFCFD9">
                  <a:alpha val="8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6"/>
            <p:cNvSpPr txBox="1"/>
            <p:nvPr/>
          </p:nvSpPr>
          <p:spPr>
            <a:xfrm>
              <a:off x="4245035" y="1143118"/>
              <a:ext cx="1860500" cy="1894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Georgia"/>
                <a:buChar char="•"/>
              </a:pPr>
              <a:r>
                <a:rPr b="0" i="0" lang="en-IN" sz="15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Back and forth communication between bot and user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6366005" y="711117"/>
              <a:ext cx="1860500" cy="432000"/>
            </a:xfrm>
            <a:prstGeom prst="rect">
              <a:avLst/>
            </a:prstGeom>
            <a:solidFill>
              <a:srgbClr val="52538A"/>
            </a:solidFill>
            <a:ln cap="flat" cmpd="sng" w="19050">
              <a:solidFill>
                <a:srgbClr val="5253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6"/>
            <p:cNvSpPr txBox="1"/>
            <p:nvPr/>
          </p:nvSpPr>
          <p:spPr>
            <a:xfrm>
              <a:off x="6366005" y="711117"/>
              <a:ext cx="1860500" cy="43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Georgia"/>
                <a:buNone/>
              </a:pPr>
              <a:r>
                <a:rPr b="0" i="0" lang="en-IN" sz="1500" u="none" cap="none" strike="noStrike">
                  <a:solidFill>
                    <a:schemeClr val="lt1"/>
                  </a:solidFill>
                  <a:latin typeface="Georgia"/>
                  <a:ea typeface="Georgia"/>
                  <a:cs typeface="Georgia"/>
                  <a:sym typeface="Georgia"/>
                </a:rPr>
                <a:t>Action/Fulfillment</a:t>
              </a:r>
              <a:endParaRPr b="0" i="0" sz="15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6366005" y="1143118"/>
              <a:ext cx="1860500" cy="1894050"/>
            </a:xfrm>
            <a:prstGeom prst="rect">
              <a:avLst/>
            </a:prstGeom>
            <a:solidFill>
              <a:srgbClr val="CFCFD9">
                <a:alpha val="85098"/>
              </a:srgbClr>
            </a:solidFill>
            <a:ln cap="flat" cmpd="sng" w="19050">
              <a:solidFill>
                <a:srgbClr val="CFCFD9">
                  <a:alpha val="8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6"/>
            <p:cNvSpPr txBox="1"/>
            <p:nvPr/>
          </p:nvSpPr>
          <p:spPr>
            <a:xfrm>
              <a:off x="6366005" y="1143118"/>
              <a:ext cx="1860500" cy="1894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Georgia"/>
                <a:buChar char="•"/>
              </a:pPr>
              <a:r>
                <a:rPr b="0" i="0" lang="en-IN" sz="15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Bot provides final results  in the form of a link where reservation are  made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Problem Statement</a:t>
            </a:r>
            <a:endParaRPr/>
          </a:p>
        </p:txBody>
      </p:sp>
      <p:sp>
        <p:nvSpPr>
          <p:cNvPr id="250" name="Google Shape;250;p10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Build an interactive conversational bot for a given Intents using 2 approaches: Alexa Chatbot and Python Chatbot.</a:t>
            </a:r>
            <a:endParaRPr/>
          </a:p>
          <a:p>
            <a:pPr indent="-4064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-IN" sz="2800"/>
              <a:t>Refer the Colab Notebook: Chatbot_Hackathon.ipynb</a:t>
            </a:r>
            <a:endParaRPr/>
          </a:p>
          <a:p>
            <a:pPr indent="-1397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ALEXA CHATBOT: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Create an Alexa Skill by logging into Alexa Developer Console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Refer the document: Pre-Hackathon_Alexa_Chatbot.pdf</a:t>
            </a:r>
            <a:endParaRPr/>
          </a:p>
          <a:p>
            <a:pPr indent="-1397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PYTHON CHATBOT 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Create a conversational Python chatbot based on the allocated Intents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Refer the Colab Notebook: Pre-Hackathon_Chatbot.ipynb</a:t>
            </a:r>
            <a:endParaRPr/>
          </a:p>
        </p:txBody>
      </p:sp>
      <p:sp>
        <p:nvSpPr>
          <p:cNvPr id="251" name="Google Shape;251;p10"/>
          <p:cNvSpPr txBox="1"/>
          <p:nvPr>
            <p:ph idx="12" type="sldNum"/>
          </p:nvPr>
        </p:nvSpPr>
        <p:spPr>
          <a:xfrm>
            <a:off x="11582400" y="6492875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Alexa Skill</a:t>
            </a:r>
            <a:endParaRPr/>
          </a:p>
        </p:txBody>
      </p:sp>
      <p:sp>
        <p:nvSpPr>
          <p:cNvPr id="257" name="Google Shape;257;p11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Create new user account and sign in to the </a:t>
            </a:r>
            <a:r>
              <a:rPr lang="en-IN">
                <a:solidFill>
                  <a:schemeClr val="accent1"/>
                </a:solidFill>
              </a:rPr>
              <a:t>Alexa Developer Console</a:t>
            </a:r>
            <a:r>
              <a:rPr lang="en-IN"/>
              <a:t>. Below steps to be performed with in the Console.</a:t>
            </a:r>
            <a:endParaRPr/>
          </a:p>
          <a:p>
            <a:pPr indent="-4318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lang="en-IN"/>
              <a:t>Create two intents under one skill </a:t>
            </a:r>
            <a:endParaRPr/>
          </a:p>
          <a:p>
            <a:pPr indent="-4318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lang="en-IN"/>
              <a:t>Specify </a:t>
            </a:r>
            <a:r>
              <a:rPr lang="en-IN">
                <a:solidFill>
                  <a:schemeClr val="accent1"/>
                </a:solidFill>
              </a:rPr>
              <a:t>invocation name, intents, utterances and slots</a:t>
            </a:r>
            <a:endParaRPr/>
          </a:p>
          <a:p>
            <a:pPr indent="-4318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lang="en-IN"/>
              <a:t>Save and Build </a:t>
            </a:r>
            <a:r>
              <a:rPr lang="en-IN">
                <a:solidFill>
                  <a:schemeClr val="accent1"/>
                </a:solidFill>
              </a:rPr>
              <a:t>Model</a:t>
            </a:r>
            <a:endParaRPr/>
          </a:p>
          <a:p>
            <a:pPr indent="-4318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lang="en-IN"/>
              <a:t>Under ‘code’ tab – Build backend model by editing Lambda function</a:t>
            </a:r>
            <a:endParaRPr/>
          </a:p>
          <a:p>
            <a:pPr indent="-4318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lang="en-IN">
                <a:solidFill>
                  <a:schemeClr val="accent1"/>
                </a:solidFill>
              </a:rPr>
              <a:t>Test</a:t>
            </a:r>
            <a:r>
              <a:rPr lang="en-IN"/>
              <a:t> the model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–"/>
            </a:pPr>
            <a:r>
              <a:rPr lang="en-IN"/>
              <a:t>Achieve desired </a:t>
            </a:r>
            <a:r>
              <a:rPr lang="en-IN">
                <a:solidFill>
                  <a:schemeClr val="accent1"/>
                </a:solidFill>
              </a:rPr>
              <a:t>outcome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rPr b="1" lang="en-IN" sz="2700"/>
              <a:t>Note:</a:t>
            </a:r>
            <a:endParaRPr sz="2700"/>
          </a:p>
          <a:p>
            <a:pPr indent="-4000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00"/>
              <a:buChar char="•"/>
            </a:pPr>
            <a:r>
              <a:rPr lang="en-IN" sz="2700"/>
              <a:t>Alexa handles switching between the multiple intents.</a:t>
            </a:r>
            <a:endParaRPr sz="2700"/>
          </a:p>
          <a:p>
            <a:pPr indent="-400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IN" sz="2700"/>
              <a:t>Use CloudWatch to debug any errors found in lambda function</a:t>
            </a:r>
            <a:endParaRPr sz="2700"/>
          </a:p>
        </p:txBody>
      </p:sp>
      <p:sp>
        <p:nvSpPr>
          <p:cNvPr id="258" name="Google Shape;258;p11"/>
          <p:cNvSpPr txBox="1"/>
          <p:nvPr>
            <p:ph idx="12" type="sldNum"/>
          </p:nvPr>
        </p:nvSpPr>
        <p:spPr>
          <a:xfrm>
            <a:off x="11582400" y="6492875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Python Chatbot</a:t>
            </a:r>
            <a:endParaRPr/>
          </a:p>
        </p:txBody>
      </p:sp>
      <p:sp>
        <p:nvSpPr>
          <p:cNvPr id="264" name="Google Shape;264;p12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Create utterances, slots, params config file.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Understand the different functionalities related to the chatbot, such as </a:t>
            </a:r>
            <a:r>
              <a:rPr lang="en-IN">
                <a:solidFill>
                  <a:schemeClr val="accent1"/>
                </a:solidFill>
              </a:rPr>
              <a:t>context, intents, slots, params and session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Build a model to classify the intent based on utterances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Perform the action based on the attributes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Execute the code and </a:t>
            </a:r>
            <a:r>
              <a:rPr lang="en-IN">
                <a:solidFill>
                  <a:schemeClr val="accent1"/>
                </a:solidFill>
              </a:rPr>
              <a:t>run a session </a:t>
            </a:r>
            <a:r>
              <a:rPr lang="en-IN"/>
              <a:t>at the end, to test the chatbot responses</a:t>
            </a:r>
            <a:endParaRPr/>
          </a:p>
        </p:txBody>
      </p:sp>
      <p:sp>
        <p:nvSpPr>
          <p:cNvPr id="265" name="Google Shape;265;p12"/>
          <p:cNvSpPr txBox="1"/>
          <p:nvPr>
            <p:ph idx="12" type="sldNum"/>
          </p:nvPr>
        </p:nvSpPr>
        <p:spPr>
          <a:xfrm>
            <a:off x="11582400" y="6492875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2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IN"/>
              <a:t>Skills to be developed</a:t>
            </a:r>
            <a:endParaRPr/>
          </a:p>
        </p:txBody>
      </p:sp>
      <p:sp>
        <p:nvSpPr>
          <p:cNvPr id="271" name="Google Shape;271;p72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27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</a:pPr>
            <a:r>
              <a:rPr b="1" i="0" lang="en-IN" sz="192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Zodiac Sign:</a:t>
            </a:r>
            <a:r>
              <a:rPr b="0" i="0" lang="en-IN" sz="192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 The bot should give the Zodiac Sign of the user, based on the date of birth (day, month and year) provided by the user </a:t>
            </a:r>
            <a:endParaRPr sz="2660"/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192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</a:pPr>
            <a:r>
              <a:rPr b="1" i="0" lang="en-IN" sz="192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Suggest a Movie:</a:t>
            </a:r>
            <a:r>
              <a:rPr b="0" i="0" lang="en-IN" sz="192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 The bot should suggest a movie based on user preferences: Language, Actor, Genre and other details</a:t>
            </a:r>
            <a:endParaRPr sz="2660"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i="0" sz="192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</a:pPr>
            <a:r>
              <a:rPr b="1" i="0" lang="en-IN" sz="192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Find the Restaurant:</a:t>
            </a:r>
            <a:r>
              <a:rPr b="0" i="0" lang="en-IN" sz="192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 Find the restaurants based on Cuisine, Cost type (cheap, medium, expensive), location and other parameters</a:t>
            </a:r>
            <a:endParaRPr sz="2660"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i="0" sz="192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</a:pPr>
            <a:r>
              <a:rPr b="1" i="0" lang="en-IN" sz="192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Suggest a Book:</a:t>
            </a:r>
            <a:r>
              <a:rPr b="0" i="0" lang="en-IN" sz="192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 The bot should suggest the book based on user preferences: Author, language, genre and other parameters</a:t>
            </a:r>
            <a:endParaRPr sz="2660"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i="0" sz="192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</a:pPr>
            <a:r>
              <a:rPr b="1" i="0" lang="en-IN" sz="192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Recommend a Store:</a:t>
            </a:r>
            <a:r>
              <a:rPr b="0" i="0" lang="en-IN" sz="192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 The bot should search a store based on preferences: Store type (medical clinics, food store, dry cleaning and more), location, availability (Open, Close) and other parameters</a:t>
            </a:r>
            <a:endParaRPr sz="2660"/>
          </a:p>
        </p:txBody>
      </p:sp>
      <p:sp>
        <p:nvSpPr>
          <p:cNvPr id="272" name="Google Shape;272;p72"/>
          <p:cNvSpPr txBox="1"/>
          <p:nvPr>
            <p:ph idx="12" type="sldNum"/>
          </p:nvPr>
        </p:nvSpPr>
        <p:spPr>
          <a:xfrm>
            <a:off x="11582400" y="6492875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Intent Allocation for Teams</a:t>
            </a:r>
            <a:endParaRPr/>
          </a:p>
        </p:txBody>
      </p:sp>
      <p:sp>
        <p:nvSpPr>
          <p:cNvPr id="278" name="Google Shape;278;p15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Team A = Group 1,5,9,13,17,21,25,29,33,37=&gt; </a:t>
            </a:r>
            <a:r>
              <a:rPr lang="en-IN">
                <a:solidFill>
                  <a:srgbClr val="212121"/>
                </a:solidFill>
              </a:rPr>
              <a:t>Suggest a Movie</a:t>
            </a:r>
            <a:endParaRPr b="1"/>
          </a:p>
          <a:p>
            <a:pPr indent="-431800" lvl="0" marL="457200" rtl="0" algn="l">
              <a:spcBef>
                <a:spcPts val="60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Team B = Group 2,6,10,14,18,22,26,30,34 =&gt; </a:t>
            </a:r>
            <a:r>
              <a:rPr lang="en-IN">
                <a:solidFill>
                  <a:srgbClr val="212121"/>
                </a:solidFill>
              </a:rPr>
              <a:t>Find a Restaurant</a:t>
            </a:r>
            <a:endParaRPr b="1"/>
          </a:p>
          <a:p>
            <a:pPr indent="-431800" lvl="0" marL="457200" rtl="0" algn="l">
              <a:spcBef>
                <a:spcPts val="60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Team C = Group 3,7,11,15,19,23,27,31,35 =&gt; </a:t>
            </a:r>
            <a:r>
              <a:rPr lang="en-IN">
                <a:solidFill>
                  <a:srgbClr val="212121"/>
                </a:solidFill>
              </a:rPr>
              <a:t>Suggest a Book</a:t>
            </a:r>
            <a:endParaRPr b="1"/>
          </a:p>
          <a:p>
            <a:pPr indent="-431800" lvl="0" marL="457200" rtl="0" algn="l">
              <a:spcBef>
                <a:spcPts val="60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Team D = Group 4,8,12,16,20,24,28,32,36 =&gt; </a:t>
            </a:r>
            <a:r>
              <a:rPr lang="en-IN">
                <a:solidFill>
                  <a:srgbClr val="212121"/>
                </a:solidFill>
              </a:rPr>
              <a:t>Recommend a Store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IN"/>
              <a:t>Zodiac Sign </a:t>
            </a:r>
            <a:r>
              <a:rPr lang="en-IN"/>
              <a:t>is common for all teams.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n-IN"/>
              <a:t>Each team allocated with 2 Intents</a:t>
            </a:r>
            <a:endParaRPr/>
          </a:p>
        </p:txBody>
      </p:sp>
      <p:sp>
        <p:nvSpPr>
          <p:cNvPr id="279" name="Google Shape;279;p15"/>
          <p:cNvSpPr txBox="1"/>
          <p:nvPr>
            <p:ph idx="12" type="sldNum"/>
          </p:nvPr>
        </p:nvSpPr>
        <p:spPr>
          <a:xfrm>
            <a:off x="11582400" y="6492875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Criteria for evaluation of Alexa Chatbot</a:t>
            </a:r>
            <a:endParaRPr/>
          </a:p>
        </p:txBody>
      </p:sp>
      <p:sp>
        <p:nvSpPr>
          <p:cNvPr id="285" name="Google Shape;285;p16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115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b="1" lang="en-IN" sz="2700"/>
              <a:t>Task 1</a:t>
            </a:r>
            <a:r>
              <a:rPr lang="en-IN" sz="2700"/>
              <a:t> (2 Marks)</a:t>
            </a:r>
            <a:r>
              <a:rPr b="1" lang="en-IN" sz="2700"/>
              <a:t> -</a:t>
            </a:r>
            <a:r>
              <a:rPr lang="en-IN" sz="2700"/>
              <a:t> Create skill and build </a:t>
            </a:r>
            <a:r>
              <a:rPr lang="en-IN" sz="2700" u="sng"/>
              <a:t>2 intents</a:t>
            </a:r>
            <a:endParaRPr sz="2700" u="sng"/>
          </a:p>
          <a:p>
            <a:pPr indent="-31115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b="1" lang="en-IN" sz="2700"/>
              <a:t>Task 2 </a:t>
            </a:r>
            <a:r>
              <a:rPr lang="en-IN" sz="2700"/>
              <a:t>(4 Marks)</a:t>
            </a:r>
            <a:r>
              <a:rPr b="1" lang="en-IN" sz="2700"/>
              <a:t> -</a:t>
            </a:r>
            <a:r>
              <a:rPr lang="en-IN" sz="2700"/>
              <a:t> Create </a:t>
            </a:r>
            <a:r>
              <a:rPr lang="en-IN" sz="2700" u="sng"/>
              <a:t>50 utterances</a:t>
            </a:r>
            <a:r>
              <a:rPr lang="en-IN" sz="2700"/>
              <a:t> for each intent</a:t>
            </a:r>
            <a:endParaRPr sz="2700"/>
          </a:p>
          <a:p>
            <a:pPr indent="-31115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b="1" lang="en-IN" sz="2700"/>
              <a:t>Task 3</a:t>
            </a:r>
            <a:r>
              <a:rPr lang="en-IN" sz="2700"/>
              <a:t> (2 Marks)</a:t>
            </a:r>
            <a:r>
              <a:rPr b="1" lang="en-IN" sz="2700"/>
              <a:t> -</a:t>
            </a:r>
            <a:r>
              <a:rPr lang="en-IN" sz="2700"/>
              <a:t> </a:t>
            </a:r>
            <a:r>
              <a:rPr lang="en-IN" sz="2700" u="sng"/>
              <a:t>3 slots</a:t>
            </a:r>
            <a:r>
              <a:rPr lang="en-IN" sz="2700"/>
              <a:t> and slot types for each intent</a:t>
            </a:r>
            <a:endParaRPr sz="2700"/>
          </a:p>
          <a:p>
            <a:pPr indent="-31115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b="1" lang="en-IN" sz="2700"/>
              <a:t>Task 4 </a:t>
            </a:r>
            <a:r>
              <a:rPr lang="en-IN" sz="2700"/>
              <a:t>(4 Marks)</a:t>
            </a:r>
            <a:r>
              <a:rPr b="1" lang="en-IN" sz="2700"/>
              <a:t> -</a:t>
            </a:r>
            <a:r>
              <a:rPr lang="en-IN" sz="2700"/>
              <a:t> Create a </a:t>
            </a:r>
            <a:r>
              <a:rPr lang="en-IN" sz="2700" u="sng"/>
              <a:t>database</a:t>
            </a:r>
            <a:r>
              <a:rPr lang="en-IN" sz="2700"/>
              <a:t> for the intents</a:t>
            </a:r>
            <a:endParaRPr sz="2700"/>
          </a:p>
          <a:p>
            <a:pPr indent="-31115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b="1" lang="en-IN" sz="2700"/>
              <a:t>Task 5 </a:t>
            </a:r>
            <a:r>
              <a:rPr lang="en-IN" sz="2700"/>
              <a:t>(4 Marks) </a:t>
            </a:r>
            <a:r>
              <a:rPr b="1" lang="en-IN" sz="2700"/>
              <a:t>-</a:t>
            </a:r>
            <a:r>
              <a:rPr lang="en-IN" sz="2700"/>
              <a:t> Update the lambda_function.py and requirements.txt in the Code section</a:t>
            </a:r>
            <a:endParaRPr sz="2700"/>
          </a:p>
          <a:p>
            <a:pPr indent="-31115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b="1" lang="en-IN" sz="2700"/>
              <a:t>Task 6 </a:t>
            </a:r>
            <a:r>
              <a:rPr lang="en-IN" sz="2700"/>
              <a:t>(4 Marks) </a:t>
            </a:r>
            <a:r>
              <a:rPr b="1" lang="en-IN" sz="2700"/>
              <a:t>-</a:t>
            </a:r>
            <a:r>
              <a:rPr lang="en-IN" sz="2700"/>
              <a:t> Run and test the Alexa chatbot for 2 intents with the following:</a:t>
            </a:r>
            <a:endParaRPr sz="2700"/>
          </a:p>
          <a:p>
            <a:pPr indent="-27940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</a:pPr>
            <a:r>
              <a:rPr lang="en-IN" sz="2700"/>
              <a:t>should identify the user requirement and gather data.</a:t>
            </a:r>
            <a:endParaRPr sz="2700"/>
          </a:p>
          <a:p>
            <a:pPr indent="-27940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</a:pPr>
            <a:r>
              <a:rPr lang="en-IN" sz="2700"/>
              <a:t>prompt the user with different prompts and maintain dialogue flow.</a:t>
            </a:r>
            <a:endParaRPr sz="2700"/>
          </a:p>
          <a:p>
            <a:pPr indent="-27940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Char char="–"/>
            </a:pPr>
            <a:r>
              <a:rPr lang="en-IN" sz="2700"/>
              <a:t>switch between the 2 intents based on user requirement.</a:t>
            </a:r>
            <a:endParaRPr sz="2700"/>
          </a:p>
          <a:p>
            <a:pPr indent="-27940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Char char="–"/>
            </a:pPr>
            <a:r>
              <a:rPr lang="en-IN" sz="2700"/>
              <a:t>provide desired outcome based on the user requirements</a:t>
            </a:r>
            <a:endParaRPr sz="2700"/>
          </a:p>
        </p:txBody>
      </p:sp>
      <p:sp>
        <p:nvSpPr>
          <p:cNvPr id="286" name="Google Shape;286;p16"/>
          <p:cNvSpPr txBox="1"/>
          <p:nvPr>
            <p:ph idx="12" type="sldNum"/>
          </p:nvPr>
        </p:nvSpPr>
        <p:spPr>
          <a:xfrm>
            <a:off x="11582400" y="6492875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e3fd1cd8bb_1_18"/>
          <p:cNvSpPr txBox="1"/>
          <p:nvPr>
            <p:ph type="title"/>
          </p:nvPr>
        </p:nvSpPr>
        <p:spPr>
          <a:xfrm>
            <a:off x="609600" y="191069"/>
            <a:ext cx="95442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Criteria for evaluation of Python Chatbot</a:t>
            </a:r>
            <a:endParaRPr/>
          </a:p>
        </p:txBody>
      </p:sp>
      <p:sp>
        <p:nvSpPr>
          <p:cNvPr id="292" name="Google Shape;292;ge3fd1cd8bb_1_18"/>
          <p:cNvSpPr txBox="1"/>
          <p:nvPr>
            <p:ph idx="1" type="body"/>
          </p:nvPr>
        </p:nvSpPr>
        <p:spPr>
          <a:xfrm>
            <a:off x="609600" y="1160060"/>
            <a:ext cx="10972800" cy="53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IN" sz="2800"/>
              <a:t>Task 1 </a:t>
            </a:r>
            <a:r>
              <a:rPr lang="en-IN" sz="2800"/>
              <a:t>(6 Marks) </a:t>
            </a:r>
            <a:r>
              <a:rPr b="1" lang="en-IN" sz="2800"/>
              <a:t>- </a:t>
            </a:r>
            <a:r>
              <a:rPr lang="en-IN" sz="2800"/>
              <a:t>Create all the Utterances, Slots and update param file</a:t>
            </a:r>
            <a:endParaRPr sz="2800"/>
          </a:p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IN" sz="2800"/>
              <a:t>Task 2 </a:t>
            </a:r>
            <a:r>
              <a:rPr lang="en-IN" sz="2800"/>
              <a:t>(2 Marks)</a:t>
            </a:r>
            <a:r>
              <a:rPr b="1" lang="en-IN" sz="2800"/>
              <a:t> - </a:t>
            </a:r>
            <a:r>
              <a:rPr lang="en-IN" sz="2800"/>
              <a:t>Create a database for the intent with all possible combinations</a:t>
            </a:r>
            <a:endParaRPr sz="2800"/>
          </a:p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IN" sz="2800"/>
              <a:t>Task 3</a:t>
            </a:r>
            <a:r>
              <a:rPr lang="en-IN" sz="2800"/>
              <a:t> (5 Marks) </a:t>
            </a:r>
            <a:r>
              <a:rPr b="1" lang="en-IN" sz="2800"/>
              <a:t>- </a:t>
            </a:r>
            <a:r>
              <a:rPr lang="en-IN" sz="2800"/>
              <a:t>Text representation and classification</a:t>
            </a:r>
            <a:r>
              <a:rPr b="1" lang="en-IN" sz="2800"/>
              <a:t> </a:t>
            </a:r>
            <a:endParaRPr b="1" sz="2800"/>
          </a:p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IN" sz="2800"/>
              <a:t>Task 4</a:t>
            </a:r>
            <a:r>
              <a:rPr lang="en-IN" sz="2800"/>
              <a:t> (4 Marks)</a:t>
            </a:r>
            <a:r>
              <a:rPr b="1" lang="en-IN" sz="2800"/>
              <a:t> -</a:t>
            </a:r>
            <a:r>
              <a:rPr lang="en-IN" sz="2800"/>
              <a:t> Define the function to perform action based on user input</a:t>
            </a:r>
            <a:endParaRPr sz="2800"/>
          </a:p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IN" sz="2800"/>
              <a:t>Task 5</a:t>
            </a:r>
            <a:r>
              <a:rPr lang="en-IN" sz="2800"/>
              <a:t> (3 Marks)</a:t>
            </a:r>
            <a:r>
              <a:rPr b="1" lang="en-IN" sz="2800"/>
              <a:t> - </a:t>
            </a:r>
            <a:r>
              <a:rPr lang="en-IN" sz="2800"/>
              <a:t>Run and test the Python chatbot for 2 intents with the following:</a:t>
            </a:r>
            <a:endParaRPr sz="2800"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-IN" sz="2800"/>
              <a:t>should identify the user requirement and gather data.</a:t>
            </a:r>
            <a:endParaRPr sz="2800"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-IN" sz="2800"/>
              <a:t>prompt the user with different prompts and maintain dialogue flow.</a:t>
            </a:r>
            <a:endParaRPr sz="2800"/>
          </a:p>
          <a:p>
            <a:pPr indent="-4000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Char char="–"/>
            </a:pPr>
            <a:r>
              <a:rPr lang="en-IN" sz="2700"/>
              <a:t>switch between the 2 intents based on user requirement.</a:t>
            </a:r>
            <a:endParaRPr sz="2700"/>
          </a:p>
          <a:p>
            <a:pPr indent="-4000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Char char="–"/>
            </a:pPr>
            <a:r>
              <a:rPr lang="en-IN" sz="2700"/>
              <a:t>provide desired outcome based on the user requirements</a:t>
            </a:r>
            <a:endParaRPr/>
          </a:p>
        </p:txBody>
      </p:sp>
      <p:sp>
        <p:nvSpPr>
          <p:cNvPr id="293" name="Google Shape;293;ge3fd1cd8bb_1_18"/>
          <p:cNvSpPr txBox="1"/>
          <p:nvPr>
            <p:ph idx="12" type="sldNum"/>
          </p:nvPr>
        </p:nvSpPr>
        <p:spPr>
          <a:xfrm>
            <a:off x="11582400" y="6492875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Evaluation &amp; Scores</a:t>
            </a:r>
            <a:endParaRPr/>
          </a:p>
        </p:txBody>
      </p:sp>
      <p:sp>
        <p:nvSpPr>
          <p:cNvPr id="299" name="Google Shape;299;p21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Calibri"/>
              <a:buChar char="•"/>
            </a:pPr>
            <a:r>
              <a:rPr lang="en-IN"/>
              <a:t>Group activity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Calibri"/>
              <a:buChar char="•"/>
            </a:pPr>
            <a:r>
              <a:rPr lang="en-IN"/>
              <a:t>One group one solution</a:t>
            </a:r>
            <a:endParaRPr sz="4000"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Calibri"/>
              <a:buChar char="•"/>
            </a:pPr>
            <a:r>
              <a:rPr lang="en-IN"/>
              <a:t>Hackathon will be conducted on Jan 24 &amp; 25, 2026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Calibri"/>
              <a:buChar char="•"/>
            </a:pPr>
            <a:r>
              <a:rPr lang="en-IN"/>
              <a:t>Presentation starts on Jan 25, 2026 @ 4 PM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Calibri"/>
              <a:buChar char="•"/>
            </a:pPr>
            <a:r>
              <a:rPr lang="en-IN"/>
              <a:t>Scores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Alexa Chatbot - 20 marks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Python Chatbot - 20 marks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Presentation – 10 marks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00" name="Google Shape;300;p21"/>
          <p:cNvSpPr txBox="1"/>
          <p:nvPr>
            <p:ph idx="12" type="sldNum"/>
          </p:nvPr>
        </p:nvSpPr>
        <p:spPr>
          <a:xfrm>
            <a:off x="11582400" y="6492875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ed575fd8a5_0_97"/>
          <p:cNvSpPr txBox="1"/>
          <p:nvPr>
            <p:ph type="title"/>
          </p:nvPr>
        </p:nvSpPr>
        <p:spPr>
          <a:xfrm>
            <a:off x="609600" y="191069"/>
            <a:ext cx="95442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Presentation</a:t>
            </a:r>
            <a:endParaRPr/>
          </a:p>
        </p:txBody>
      </p:sp>
      <p:sp>
        <p:nvSpPr>
          <p:cNvPr id="306" name="Google Shape;306;g2ed575fd8a5_0_97"/>
          <p:cNvSpPr txBox="1"/>
          <p:nvPr>
            <p:ph idx="1" type="body"/>
          </p:nvPr>
        </p:nvSpPr>
        <p:spPr>
          <a:xfrm>
            <a:off x="609600" y="1160060"/>
            <a:ext cx="10972800" cy="53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10 minutes Presentation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Highlights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Approaches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Challenges Faced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Learning Outcomes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Teamwork</a:t>
            </a:r>
            <a:endParaRPr/>
          </a:p>
        </p:txBody>
      </p:sp>
      <p:pic>
        <p:nvPicPr>
          <p:cNvPr id="307" name="Google Shape;307;g2ed575fd8a5_0_97" title="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2700" y="0"/>
            <a:ext cx="3109301" cy="78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"/>
          <p:cNvSpPr txBox="1"/>
          <p:nvPr>
            <p:ph idx="1" type="body"/>
          </p:nvPr>
        </p:nvSpPr>
        <p:spPr>
          <a:xfrm>
            <a:off x="2416175" y="2511425"/>
            <a:ext cx="7342188" cy="87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40"/>
              <a:buNone/>
            </a:pPr>
            <a:r>
              <a:rPr lang="en-IN"/>
              <a:t>Thank you</a:t>
            </a:r>
            <a:endParaRPr/>
          </a:p>
        </p:txBody>
      </p:sp>
      <p:sp>
        <p:nvSpPr>
          <p:cNvPr id="313" name="Google Shape;313;p22"/>
          <p:cNvSpPr txBox="1"/>
          <p:nvPr>
            <p:ph idx="2" type="body"/>
          </p:nvPr>
        </p:nvSpPr>
        <p:spPr>
          <a:xfrm>
            <a:off x="2455863" y="3398838"/>
            <a:ext cx="730228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20"/>
              <a:buNone/>
            </a:pPr>
            <a:r>
              <a:rPr lang="en-IN"/>
              <a:t>Good Luck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AIML_Anoop_theme">
  <a:themeElements>
    <a:clrScheme name="AIM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EF6C00"/>
      </a:accent1>
      <a:accent2>
        <a:srgbClr val="632423"/>
      </a:accent2>
      <a:accent3>
        <a:srgbClr val="4F6128"/>
      </a:accent3>
      <a:accent4>
        <a:srgbClr val="3F3151"/>
      </a:accent4>
      <a:accent5>
        <a:srgbClr val="205867"/>
      </a:accent5>
      <a:accent6>
        <a:srgbClr val="974806"/>
      </a:accent6>
      <a:hlink>
        <a:srgbClr val="00007F"/>
      </a:hlink>
      <a:folHlink>
        <a:srgbClr val="3F00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ML_Templatev5_08312018">
  <a:themeElements>
    <a:clrScheme name="AIM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EF6C00"/>
      </a:accent1>
      <a:accent2>
        <a:srgbClr val="632423"/>
      </a:accent2>
      <a:accent3>
        <a:srgbClr val="4F6128"/>
      </a:accent3>
      <a:accent4>
        <a:srgbClr val="3F3151"/>
      </a:accent4>
      <a:accent5>
        <a:srgbClr val="205867"/>
      </a:accent5>
      <a:accent6>
        <a:srgbClr val="974806"/>
      </a:accent6>
      <a:hlink>
        <a:srgbClr val="00007F"/>
      </a:hlink>
      <a:folHlink>
        <a:srgbClr val="3F00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venu kumar</dc:creator>
</cp:coreProperties>
</file>